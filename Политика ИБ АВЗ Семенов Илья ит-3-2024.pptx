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94560"/>
            <a:ext cx="1463040" cy="20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333333"/>
                </a:solidFill>
                <a:latin typeface="Arial" panose="020B0604020202020204"/>
              </a:rPr>
              <a:t>Политика антивирусной защиты</a:t>
            </a:r>
            <a:endParaRPr sz="4400" b="1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45775" cy="4057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77777"/>
                </a:solidFill>
                <a:latin typeface="Arial" panose="020B0604020202020204"/>
              </a:rPr>
              <a:t>ООО «</a:t>
            </a:r>
            <a:r>
              <a:rPr lang="ru-RU" sz="2200" b="0">
                <a:solidFill>
                  <a:srgbClr val="777777"/>
                </a:solidFill>
                <a:latin typeface="Arial" panose="020B0604020202020204"/>
              </a:rPr>
              <a:t>Плейсхолдер</a:t>
            </a:r>
            <a:r>
              <a:rPr sz="2200" b="0">
                <a:solidFill>
                  <a:srgbClr val="777777"/>
                </a:solidFill>
                <a:latin typeface="Arial" panose="020B0604020202020204"/>
              </a:rPr>
              <a:t>»</a:t>
            </a:r>
            <a:endParaRPr sz="2200" b="0">
              <a:solidFill>
                <a:srgbClr val="777777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45775" cy="5162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77777"/>
                </a:solidFill>
                <a:latin typeface="Arial" panose="020B0604020202020204"/>
              </a:rPr>
              <a:t>Дисциплина: «Основы информационной безопасности»
Выполнил: </a:t>
            </a:r>
            <a:r>
              <a:rPr lang="ru-RU" sz="1400" b="0">
                <a:solidFill>
                  <a:srgbClr val="777777"/>
                </a:solidFill>
                <a:latin typeface="Arial" panose="020B0604020202020204"/>
              </a:rPr>
              <a:t>Семенов Илья Николаевич</a:t>
            </a:r>
            <a:r>
              <a:rPr sz="1400" b="0">
                <a:solidFill>
                  <a:srgbClr val="777777"/>
                </a:solidFill>
                <a:latin typeface="Arial" panose="020B0604020202020204"/>
              </a:rPr>
              <a:t>, группа</a:t>
            </a:r>
            <a:r>
              <a:rPr lang="ru-RU" sz="1400" b="0">
                <a:solidFill>
                  <a:srgbClr val="777777"/>
                </a:solidFill>
                <a:latin typeface="Arial" panose="020B0604020202020204"/>
              </a:rPr>
              <a:t> ИТ-3-4-2024НБ</a:t>
            </a:r>
            <a:endParaRPr lang="ru-RU" sz="1400" b="0">
              <a:solidFill>
                <a:srgbClr val="777777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02975" y="63093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777777"/>
                </a:solidFill>
                <a:latin typeface="Arial" panose="020B0604020202020204"/>
              </a:rPr>
              <a:t>1 / 8</a:t>
            </a:r>
            <a:endParaRPr sz="1100" b="0">
              <a:solidFill>
                <a:srgbClr val="77777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333333"/>
                </a:solidFill>
                <a:latin typeface="Arial" panose="020B0604020202020204"/>
              </a:rPr>
              <a:t>Актуальность и цель</a:t>
            </a:r>
            <a:endParaRPr sz="3200" b="1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2960" y="1508760"/>
            <a:ext cx="1828800" cy="20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6F97"/>
                </a:solidFill>
                <a:latin typeface="Arial" panose="020B0604020202020204"/>
              </a:rPr>
              <a:t>ПРОБЛЕМА</a:t>
            </a:r>
            <a:endParaRPr sz="1400" b="1">
              <a:solidFill>
                <a:srgbClr val="2A6F97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ВПО — главный вектор атак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на малый и средний бизнес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Почта, носители, неофиц. ПО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Угроза данным клиентов и «1С»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89320" y="2103120"/>
            <a:ext cx="25000" cy="384048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6F97"/>
                </a:solidFill>
                <a:latin typeface="Arial" panose="020B0604020202020204"/>
              </a:rPr>
              <a:t>ЦЕЛЬ ПОЛИТИКИ</a:t>
            </a:r>
            <a:endParaRPr sz="1400" b="1">
              <a:solidFill>
                <a:srgbClr val="2A6F97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49377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Защита информации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Непрерывность бизнеса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Соответствие ФЗ-152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и ГОСТ ИСО 27001/27002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02975" y="63093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777777"/>
                </a:solidFill>
                <a:latin typeface="Arial" panose="020B0604020202020204"/>
              </a:rPr>
              <a:t>2 / 8</a:t>
            </a:r>
            <a:endParaRPr sz="1100" b="0">
              <a:solidFill>
                <a:srgbClr val="77777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333333"/>
                </a:solidFill>
                <a:latin typeface="Arial" panose="020B0604020202020204"/>
              </a:rPr>
              <a:t>Методология и источники</a:t>
            </a:r>
            <a:endParaRPr sz="3200" b="1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2960" y="1508760"/>
            <a:ext cx="1828800" cy="20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45775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>
                <a:solidFill>
                  <a:srgbClr val="333333"/>
                </a:solidFill>
                <a:latin typeface="Arial" panose="020B0604020202020204"/>
              </a:rPr>
              <a:t>ФЗ-149 и ФЗ-152 — требования законодательства РФ</a:t>
            </a:r>
            <a:endParaRPr sz="20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>
                <a:solidFill>
                  <a:srgbClr val="333333"/>
                </a:solidFill>
                <a:latin typeface="Arial" panose="020B0604020202020204"/>
              </a:rPr>
              <a:t>ГОСТ Р ИСО/МЭК 17799, 27001, 27002 — стандарты ИБ</a:t>
            </a:r>
            <a:endParaRPr sz="20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>
                <a:solidFill>
                  <a:srgbClr val="333333"/>
                </a:solidFill>
                <a:latin typeface="Arial" panose="020B0604020202020204"/>
              </a:rPr>
              <a:t>Практики: МТС, Positive Technologies, предприятия Перми</a:t>
            </a:r>
            <a:endParaRPr sz="20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>
                <a:solidFill>
                  <a:srgbClr val="333333"/>
                </a:solidFill>
                <a:latin typeface="Arial" panose="020B0604020202020204"/>
              </a:rPr>
              <a:t>Оформление: ГОСТ Р 7.0.97-2016 (готов к подписанию)</a:t>
            </a:r>
            <a:endParaRPr sz="20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02975" y="63093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777777"/>
                </a:solidFill>
                <a:latin typeface="Arial" panose="020B0604020202020204"/>
              </a:rPr>
              <a:t>3 / 8</a:t>
            </a:r>
            <a:endParaRPr sz="1100" b="0">
              <a:solidFill>
                <a:srgbClr val="77777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333333"/>
                </a:solidFill>
                <a:latin typeface="Arial" panose="020B0604020202020204"/>
              </a:rPr>
              <a:t>Ключевые требования политики</a:t>
            </a:r>
            <a:endParaRPr sz="3200" b="1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2960" y="1508760"/>
            <a:ext cx="1828800" cy="20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4577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000">
                <a:solidFill>
                  <a:srgbClr val="333333"/>
                </a:solidFill>
                <a:latin typeface="Arial" panose="020B0604020202020204"/>
              </a:rPr>
              <a:t>Только лицензионное АВПО на всех ПЭВМ и серверах</a:t>
            </a:r>
            <a:endParaRPr sz="20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000">
                <a:solidFill>
                  <a:srgbClr val="333333"/>
                </a:solidFill>
                <a:latin typeface="Arial" panose="020B0604020202020204"/>
              </a:rPr>
              <a:t>Централизованное обновление и мониторинг</a:t>
            </a:r>
            <a:endParaRPr sz="20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000">
                <a:solidFill>
                  <a:srgbClr val="333333"/>
                </a:solidFill>
                <a:latin typeface="Arial" panose="020B0604020202020204"/>
              </a:rPr>
              <a:t>Запрет на отключение защиты и неофициальное ПО</a:t>
            </a:r>
            <a:endParaRPr sz="20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000">
                <a:solidFill>
                  <a:srgbClr val="333333"/>
                </a:solidFill>
                <a:latin typeface="Arial" panose="020B0604020202020204"/>
              </a:rPr>
              <a:t>Обязательная проверка носителей и входящих файлов</a:t>
            </a:r>
            <a:endParaRPr sz="20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000">
                <a:solidFill>
                  <a:srgbClr val="333333"/>
                </a:solidFill>
                <a:latin typeface="Arial" panose="020B0604020202020204"/>
              </a:rPr>
              <a:t>Чёткий алгоритм действий при обнаружении ВПО</a:t>
            </a:r>
            <a:endParaRPr sz="20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02975" y="63093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777777"/>
                </a:solidFill>
                <a:latin typeface="Arial" panose="020B0604020202020204"/>
              </a:rPr>
              <a:t>4 / 8</a:t>
            </a:r>
            <a:endParaRPr sz="1100" b="0">
              <a:solidFill>
                <a:srgbClr val="77777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333333"/>
                </a:solidFill>
                <a:latin typeface="Arial" panose="020B0604020202020204"/>
              </a:rPr>
              <a:t>Особенности организации</a:t>
            </a:r>
            <a:endParaRPr sz="3200" b="1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2960" y="1508760"/>
            <a:ext cx="1828800" cy="20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6F97"/>
                </a:solidFill>
                <a:latin typeface="Arial" panose="020B0604020202020204"/>
              </a:rPr>
              <a:t>КОНТЕКСТ</a:t>
            </a:r>
            <a:endParaRPr sz="1400" b="1">
              <a:solidFill>
                <a:srgbClr val="2A6F97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5120640" cy="16567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20 ПЭВМ, 2–3 сервера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30 сотрудников, 1 офис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«1С», сайт, почта, антивирус,</a:t>
            </a:r>
            <a:r>
              <a:rPr lang="ru-RU" sz="1800">
                <a:solidFill>
                  <a:srgbClr val="333333"/>
                </a:solidFill>
                <a:latin typeface="Arial" panose="020B0604020202020204"/>
              </a:rPr>
              <a:t> МЭ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2–3 ответственных за ИТ/ИБ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72200" y="2103120"/>
            <a:ext cx="25000" cy="384048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031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6F97"/>
                </a:solidFill>
                <a:latin typeface="Arial" panose="020B0604020202020204"/>
              </a:rPr>
              <a:t>РЕШЕНИЕ</a:t>
            </a:r>
            <a:endParaRPr sz="1400" b="1">
              <a:solidFill>
                <a:srgbClr val="2A6F97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Разделение ролей: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Администратор ИБ — стратегия и контроль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Ответственный за АВЗ — операции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Без перегрузки сотрудников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02975" y="63093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777777"/>
                </a:solidFill>
                <a:latin typeface="Arial" panose="020B0604020202020204"/>
              </a:rPr>
              <a:t>5 / 8</a:t>
            </a:r>
            <a:endParaRPr sz="1100" b="0">
              <a:solidFill>
                <a:srgbClr val="77777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333333"/>
                </a:solidFill>
                <a:latin typeface="Arial" panose="020B0604020202020204"/>
              </a:rPr>
              <a:t>Аналоги и сравнение</a:t>
            </a:r>
            <a:endParaRPr sz="3200" b="1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2960" y="1508760"/>
            <a:ext cx="1828800" cy="20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011680"/>
          <a:ext cx="1054577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78638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A6F97"/>
                          </a:solidFill>
                          <a:latin typeface="Arial" panose="020B0604020202020204"/>
                        </a:rPr>
                        <a:t>Компания</a:t>
                      </a:r>
                      <a:endParaRPr sz="1600" b="1">
                        <a:solidFill>
                          <a:srgbClr val="2A6F97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A6F97"/>
                          </a:solidFill>
                          <a:latin typeface="Arial" panose="020B0604020202020204"/>
                        </a:rPr>
                        <a:t>Плюсы</a:t>
                      </a:r>
                      <a:endParaRPr sz="1600" b="1">
                        <a:solidFill>
                          <a:srgbClr val="2A6F97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A6F97"/>
                          </a:solidFill>
                          <a:latin typeface="Arial" panose="020B0604020202020204"/>
                        </a:rPr>
                        <a:t>Минусы</a:t>
                      </a:r>
                      <a:endParaRPr sz="1600" b="1">
                        <a:solidFill>
                          <a:srgbClr val="2A6F97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МТС</a:t>
                      </a:r>
                      <a:endParaRPr sz="14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Системность, документация</a:t>
                      </a:r>
                      <a:endParaRPr sz="14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Избыточно для малого бизнеса</a:t>
                      </a:r>
                      <a:endParaRPr sz="14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Positive Technologies</a:t>
                      </a:r>
                      <a:endParaRPr sz="14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Централизация, EDR</a:t>
                      </a:r>
                      <a:endParaRPr sz="14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Дорого, нужна квалификация</a:t>
                      </a:r>
                      <a:endParaRPr sz="14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Пермские предприятия</a:t>
                      </a:r>
                      <a:endParaRPr sz="14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Простота, соответствие РФ</a:t>
                      </a:r>
                      <a:endParaRPr sz="14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Слабая автоматизация</a:t>
                      </a:r>
                      <a:endParaRPr sz="14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Наша политика</a:t>
                      </a:r>
                      <a:endParaRPr sz="1400" b="1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Адаптирована под 20 ПЭВМ, баланс</a:t>
                      </a:r>
                      <a:endParaRPr sz="1400" b="1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Требует дисциплины</a:t>
                      </a:r>
                      <a:endParaRPr sz="1400" b="1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02975" y="63093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777777"/>
                </a:solidFill>
                <a:latin typeface="Arial" panose="020B0604020202020204"/>
              </a:rPr>
              <a:t>6 / 8</a:t>
            </a:r>
            <a:endParaRPr sz="1100" b="0">
              <a:solidFill>
                <a:srgbClr val="77777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333333"/>
                </a:solidFill>
                <a:latin typeface="Arial" panose="020B0604020202020204"/>
              </a:rPr>
              <a:t>Значимость документа</a:t>
            </a:r>
            <a:endParaRPr sz="3200" b="1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2960" y="1508760"/>
            <a:ext cx="1828800" cy="20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4577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2200">
                <a:solidFill>
                  <a:srgbClr val="333333"/>
                </a:solidFill>
                <a:latin typeface="Arial" panose="020B0604020202020204"/>
              </a:rPr>
              <a:t>Фундамент системы антивирусной защиты</a:t>
            </a:r>
            <a:endParaRPr sz="22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2200">
                <a:solidFill>
                  <a:srgbClr val="333333"/>
                </a:solidFill>
                <a:latin typeface="Arial" panose="020B0604020202020204"/>
              </a:rPr>
              <a:t>Формализует ответственность и снижает риски</a:t>
            </a:r>
            <a:endParaRPr sz="22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2200">
                <a:solidFill>
                  <a:srgbClr val="333333"/>
                </a:solidFill>
                <a:latin typeface="Arial" panose="020B0604020202020204"/>
              </a:rPr>
              <a:t>Соответствие законодательству и стандартам</a:t>
            </a:r>
            <a:endParaRPr sz="22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2200">
                <a:solidFill>
                  <a:srgbClr val="333333"/>
                </a:solidFill>
                <a:latin typeface="Arial" panose="020B0604020202020204"/>
              </a:rPr>
              <a:t>Инструмент управления ИБ для руководства</a:t>
            </a:r>
            <a:endParaRPr sz="22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02975" y="63093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777777"/>
                </a:solidFill>
                <a:latin typeface="Arial" panose="020B0604020202020204"/>
              </a:rPr>
              <a:t>7 / 8</a:t>
            </a:r>
            <a:endParaRPr sz="1100" b="0">
              <a:solidFill>
                <a:srgbClr val="77777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94560"/>
            <a:ext cx="1463040" cy="20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333333"/>
                </a:solidFill>
                <a:latin typeface="Arial" panose="020B0604020202020204"/>
              </a:rPr>
              <a:t>Итоги</a:t>
            </a:r>
            <a:endParaRPr sz="4000" b="1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45775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Разработана полная частная политика антивирусной защиты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Учтены особенности малой организации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Использованы лучшие практики российских компаний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 panose="020B0604020202020204"/>
              </a:rPr>
              <a:t>Документ готов к утверждению и внедрению</a:t>
            </a:r>
            <a:endParaRPr sz="18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A6F97"/>
                </a:solidFill>
                <a:latin typeface="Arial" panose="020B0604020202020204"/>
              </a:rPr>
              <a:t>Спасибо за внимание</a:t>
            </a:r>
            <a:endParaRPr sz="1600" b="0">
              <a:solidFill>
                <a:srgbClr val="2A6F97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02975" y="63093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777777"/>
                </a:solidFill>
                <a:latin typeface="Arial" panose="020B0604020202020204"/>
              </a:rPr>
              <a:t>8 / 8</a:t>
            </a:r>
            <a:endParaRPr sz="1100" b="0">
              <a:solidFill>
                <a:srgbClr val="77777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1818</Words>
  <Application>WPS Presentation</Application>
  <PresentationFormat>On-screen Show (4:3)</PresentationFormat>
  <Paragraphs>117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Илья</cp:lastModifiedBy>
  <cp:revision>3</cp:revision>
  <dcterms:created xsi:type="dcterms:W3CDTF">2013-01-27T09:14:00Z</dcterms:created>
  <dcterms:modified xsi:type="dcterms:W3CDTF">2026-10-06T08:40:56Z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1049-12.1.0.28485</vt:lpwstr>
  </property>
  <property fmtid="{D5CDD505-2E9C-101B-9397-08002B2CF9AE}" pid="3" name="ICV">
    <vt:lpwstr>07FFD67A93DE4796A8FBAC9250B983E8_12</vt:lpwstr>
  </property>
</Properties>
</file>